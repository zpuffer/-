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68"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7567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8361652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2585830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929443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139388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6943175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7811586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3239818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9867871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7898975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5252019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8649635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9896605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908530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12.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12.sv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12.sv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7.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0.svg"/><Relationship Id="rId4" Type="http://schemas.openxmlformats.org/officeDocument/2006/relationships/image" Target="../media/image19.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5.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12.sv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1591970" y="2070259"/>
            <a:ext cx="6035040" cy="1028700"/>
          </a:xfrm>
          <a:prstGeom prst="rect">
            <a:avLst/>
          </a:prstGeom>
          <a:noFill/>
          <a:ln/>
        </p:spPr>
        <p:txBody>
          <a:bodyPr wrap="square" lIns="0" tIns="0" rIns="0" bIns="0" rtlCol="0" anchor="t">
            <a:normAutofit/>
          </a:bodyPr>
          <a:lstStyle/>
          <a:p>
            <a:pPr algn="ctr">
              <a:lnSpc>
                <a:spcPts val="7424"/>
              </a:lnSpc>
            </a:pPr>
            <a:r>
              <a:rPr lang="en-US" sz="5700" b="1" dirty="0">
                <a:solidFill>
                  <a:srgbClr val="FFFFFF"/>
                </a:solidFill>
                <a:latin typeface="Arial" pitchFamily="34" charset="0"/>
                <a:ea typeface="Arial" pitchFamily="34" charset="-122"/>
                <a:cs typeface="Arial" pitchFamily="34" charset="-120"/>
              </a:rPr>
              <a:t>GIS在外国的演变</a:t>
            </a:r>
            <a:endParaRPr lang="en-US" sz="571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889711" y="1903095"/>
            <a:ext cx="2103120" cy="1337310"/>
          </a:xfrm>
          <a:prstGeom prst="rect">
            <a:avLst/>
          </a:prstGeom>
          <a:noFill/>
          <a:ln/>
        </p:spPr>
        <p:txBody>
          <a:bodyPr wrap="square" lIns="0" tIns="0" rIns="0" bIns="0" rtlCol="0" anchor="t">
            <a:normAutofit/>
          </a:bodyPr>
          <a:lstStyle/>
          <a:p>
            <a:pPr algn="ctr">
              <a:lnSpc>
                <a:spcPts val="4949"/>
              </a:lnSpc>
            </a:pPr>
            <a:r>
              <a:rPr lang="en-US" sz="3800" b="1" dirty="0">
                <a:solidFill>
                  <a:srgbClr val="FFFFFF"/>
                </a:solidFill>
                <a:latin typeface="Arial" pitchFamily="34" charset="0"/>
                <a:ea typeface="Arial" pitchFamily="34" charset="-122"/>
                <a:cs typeface="Arial" pitchFamily="34" charset="-120"/>
              </a:rPr>
              <a:t>GIS在外国的演变</a:t>
            </a:r>
            <a:endParaRPr lang="en-US" sz="3807" dirty="0"/>
          </a:p>
        </p:txBody>
      </p:sp>
      <p:sp>
        <p:nvSpPr>
          <p:cNvPr id="3" name="Object2"/>
          <p:cNvSpPr/>
          <p:nvPr/>
        </p:nvSpPr>
        <p:spPr>
          <a:xfrm>
            <a:off x="3624682" y="642938"/>
            <a:ext cx="4389120" cy="1028700"/>
          </a:xfrm>
          <a:prstGeom prst="rect">
            <a:avLst/>
          </a:prstGeom>
          <a:noFill/>
          <a:ln/>
        </p:spPr>
        <p:txBody>
          <a:bodyPr wrap="square" lIns="0" tIns="0" rIns="0" bIns="0" rtlCol="0" anchor="t">
            <a:normAutofit/>
          </a:bodyPr>
          <a:lstStyle/>
          <a:p>
            <a:pPr algn="l">
              <a:lnSpc>
                <a:spcPts val="3731"/>
              </a:lnSpc>
            </a:pPr>
            <a:r>
              <a:rPr lang="en-US" sz="2700" b="0" dirty="0">
                <a:solidFill>
                  <a:srgbClr val="FFFFFF"/>
                </a:solidFill>
                <a:latin typeface="Arial" pitchFamily="34" charset="0"/>
                <a:ea typeface="Arial" pitchFamily="34" charset="-122"/>
                <a:cs typeface="Arial" pitchFamily="34" charset="-120"/>
              </a:rPr>
              <a:t>二十世纪60年代：起始发展阶段</a:t>
            </a:r>
            <a:endParaRPr lang="en-US" sz="2665" dirty="0"/>
          </a:p>
        </p:txBody>
      </p:sp>
      <p:sp>
        <p:nvSpPr>
          <p:cNvPr id="4" name="Object3"/>
          <p:cNvSpPr/>
          <p:nvPr/>
        </p:nvSpPr>
        <p:spPr>
          <a:xfrm>
            <a:off x="3624682" y="1985391"/>
            <a:ext cx="4389120" cy="1028700"/>
          </a:xfrm>
          <a:prstGeom prst="rect">
            <a:avLst/>
          </a:prstGeom>
          <a:noFill/>
          <a:ln/>
        </p:spPr>
        <p:txBody>
          <a:bodyPr wrap="square" lIns="0" tIns="0" rIns="0" bIns="0" rtlCol="0" anchor="t">
            <a:normAutofit/>
          </a:bodyPr>
          <a:lstStyle/>
          <a:p>
            <a:pPr algn="l">
              <a:lnSpc>
                <a:spcPts val="3731"/>
              </a:lnSpc>
            </a:pPr>
            <a:r>
              <a:rPr lang="en-US" sz="2700" b="0" dirty="0">
                <a:solidFill>
                  <a:srgbClr val="FFFFFF"/>
                </a:solidFill>
                <a:latin typeface="Arial" pitchFamily="34" charset="0"/>
                <a:ea typeface="Arial" pitchFamily="34" charset="-122"/>
                <a:cs typeface="Arial" pitchFamily="34" charset="-120"/>
              </a:rPr>
              <a:t>二十世纪70年代：发展巩固阶段</a:t>
            </a:r>
            <a:endParaRPr lang="en-US" sz="2665" dirty="0"/>
          </a:p>
        </p:txBody>
      </p:sp>
      <p:sp>
        <p:nvSpPr>
          <p:cNvPr id="5" name="Object4"/>
          <p:cNvSpPr/>
          <p:nvPr/>
        </p:nvSpPr>
        <p:spPr>
          <a:xfrm>
            <a:off x="3624682" y="3327845"/>
            <a:ext cx="4389120" cy="1028700"/>
          </a:xfrm>
          <a:prstGeom prst="rect">
            <a:avLst/>
          </a:prstGeom>
          <a:noFill/>
          <a:ln/>
        </p:spPr>
        <p:txBody>
          <a:bodyPr wrap="square" lIns="0" tIns="0" rIns="0" bIns="0" rtlCol="0" anchor="t">
            <a:normAutofit/>
          </a:bodyPr>
          <a:lstStyle/>
          <a:p>
            <a:pPr algn="l">
              <a:lnSpc>
                <a:spcPts val="3731"/>
              </a:lnSpc>
            </a:pPr>
            <a:r>
              <a:rPr lang="en-US" sz="2700" b="0" dirty="0">
                <a:solidFill>
                  <a:srgbClr val="FFFFFF"/>
                </a:solidFill>
                <a:latin typeface="Arial" pitchFamily="34" charset="0"/>
                <a:ea typeface="Arial" pitchFamily="34" charset="-122"/>
                <a:cs typeface="Arial" pitchFamily="34" charset="-120"/>
              </a:rPr>
              <a:t>二十世纪80年代：推广应用阶段</a:t>
            </a:r>
            <a:endParaRPr lang="en-US" sz="2665" dirty="0"/>
          </a:p>
        </p:txBody>
      </p:sp>
      <p:sp>
        <p:nvSpPr>
          <p:cNvPr id="6" name="Object5"/>
          <p:cNvSpPr/>
          <p:nvPr/>
        </p:nvSpPr>
        <p:spPr>
          <a:xfrm>
            <a:off x="3624682" y="4670298"/>
            <a:ext cx="4389120" cy="1028700"/>
          </a:xfrm>
          <a:prstGeom prst="rect">
            <a:avLst/>
          </a:prstGeom>
          <a:noFill/>
          <a:ln/>
        </p:spPr>
        <p:txBody>
          <a:bodyPr wrap="square" lIns="0" tIns="0" rIns="0" bIns="0" rtlCol="0" anchor="t">
            <a:normAutofit/>
          </a:bodyPr>
          <a:lstStyle/>
          <a:p>
            <a:pPr algn="l">
              <a:lnSpc>
                <a:spcPts val="3731"/>
              </a:lnSpc>
            </a:pPr>
            <a:r>
              <a:rPr lang="en-US" sz="2700" b="0" dirty="0">
                <a:solidFill>
                  <a:srgbClr val="FFFFFF"/>
                </a:solidFill>
                <a:latin typeface="Arial" pitchFamily="34" charset="0"/>
                <a:ea typeface="Arial" pitchFamily="34" charset="-122"/>
                <a:cs typeface="Arial" pitchFamily="34" charset="-120"/>
              </a:rPr>
              <a:t>二十世纪90年代：蓬勃发展阶段</a:t>
            </a:r>
            <a:endParaRPr lang="en-US" sz="2665" dirty="0"/>
          </a:p>
        </p:txBody>
      </p:sp>
      <p:pic>
        <p:nvPicPr>
          <p:cNvPr id="7" name="Object 6"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78785" y="642938"/>
            <a:ext cx="544982" cy="1931899"/>
          </a:xfrm>
          <a:prstGeom prst="rect">
            <a:avLst/>
          </a:prstGeom>
        </p:spPr>
      </p:pic>
      <p:pic>
        <p:nvPicPr>
          <p:cNvPr id="8" name="Object 7"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78785" y="2568664"/>
            <a:ext cx="544982" cy="192881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39750" y="2218906"/>
            <a:ext cx="7680960" cy="720090"/>
          </a:xfrm>
          <a:prstGeom prst="rect">
            <a:avLst/>
          </a:prstGeom>
          <a:noFill/>
          <a:ln/>
        </p:spPr>
        <p:txBody>
          <a:bodyPr wrap="square" lIns="0" tIns="0" rIns="0" bIns="0" rtlCol="0" anchor="t">
            <a:normAutofit/>
          </a:bodyPr>
          <a:lstStyle/>
          <a:p>
            <a:pPr algn="ctr">
              <a:lnSpc>
                <a:spcPts val="5224"/>
              </a:lnSpc>
            </a:pPr>
            <a:r>
              <a:rPr lang="en-US" sz="4000" b="1" dirty="0">
                <a:solidFill>
                  <a:srgbClr val="FFFFFF"/>
                </a:solidFill>
                <a:latin typeface="Arial" pitchFamily="34" charset="0"/>
                <a:ea typeface="Arial" pitchFamily="34" charset="-122"/>
                <a:cs typeface="Arial" pitchFamily="34" charset="-120"/>
              </a:rPr>
              <a:t>二十世纪60年代：起始发展阶段</a:t>
            </a:r>
            <a:endParaRPr lang="en-US" sz="4019"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03174" y="642938"/>
            <a:ext cx="7680960" cy="720090"/>
          </a:xfrm>
          <a:prstGeom prst="rect">
            <a:avLst/>
          </a:prstGeom>
          <a:noFill/>
          <a:ln/>
        </p:spPr>
        <p:txBody>
          <a:bodyPr wrap="square" lIns="0" tIns="0" rIns="0" bIns="0" rtlCol="0" anchor="t">
            <a:normAutofit/>
          </a:bodyPr>
          <a:lstStyle/>
          <a:p>
            <a:pPr algn="l">
              <a:lnSpc>
                <a:spcPts val="5224"/>
              </a:lnSpc>
            </a:pPr>
            <a:r>
              <a:rPr lang="en-US" sz="4000" b="1" dirty="0">
                <a:solidFill>
                  <a:srgbClr val="FFFFFF"/>
                </a:solidFill>
                <a:latin typeface="Arial" pitchFamily="34" charset="0"/>
                <a:ea typeface="Arial" pitchFamily="34" charset="-122"/>
                <a:cs typeface="Arial" pitchFamily="34" charset="-120"/>
              </a:rPr>
              <a:t>二十世纪60年代：起始发展阶段</a:t>
            </a:r>
            <a:endParaRPr lang="en-US" sz="4019" dirty="0"/>
          </a:p>
        </p:txBody>
      </p:sp>
      <p:sp>
        <p:nvSpPr>
          <p:cNvPr id="3" name="Object2"/>
          <p:cNvSpPr/>
          <p:nvPr/>
        </p:nvSpPr>
        <p:spPr>
          <a:xfrm>
            <a:off x="876910" y="1760106"/>
            <a:ext cx="7406640" cy="720090"/>
          </a:xfrm>
          <a:prstGeom prst="rect">
            <a:avLst/>
          </a:prstGeom>
          <a:noFill/>
          <a:ln/>
        </p:spPr>
        <p:txBody>
          <a:bodyPr wrap="square" lIns="0" tIns="0" rIns="0" bIns="0" rtlCol="0" anchor="t">
            <a:normAutofit/>
          </a:bodyPr>
          <a:lstStyle/>
          <a:p>
            <a:pPr algn="l">
              <a:lnSpc>
                <a:spcPts val="2601"/>
              </a:lnSpc>
            </a:pPr>
            <a:r>
              <a:rPr lang="en-US" sz="1700" b="0" dirty="0">
                <a:solidFill>
                  <a:srgbClr val="FFFFFF"/>
                </a:solidFill>
                <a:latin typeface="Arial" pitchFamily="34" charset="0"/>
                <a:ea typeface="Arial" pitchFamily="34" charset="-122"/>
                <a:cs typeface="Arial" pitchFamily="34" charset="-120"/>
              </a:rPr>
              <a:t>【世界上第一个地理信息系统】加拿大地理信息系统（CGIS）由加拿大测量学家R.F.Tomlinson提出并建立，主要用于自然资源的管理和规划。</a:t>
            </a:r>
            <a:endParaRPr lang="en-US" sz="1734" dirty="0"/>
          </a:p>
        </p:txBody>
      </p:sp>
      <p:sp>
        <p:nvSpPr>
          <p:cNvPr id="4" name="Object3"/>
          <p:cNvSpPr/>
          <p:nvPr/>
        </p:nvSpPr>
        <p:spPr>
          <a:xfrm>
            <a:off x="876910" y="2771832"/>
            <a:ext cx="7406640" cy="720090"/>
          </a:xfrm>
          <a:prstGeom prst="rect">
            <a:avLst/>
          </a:prstGeom>
          <a:noFill/>
          <a:ln/>
        </p:spPr>
        <p:txBody>
          <a:bodyPr wrap="square" lIns="0" tIns="0" rIns="0" bIns="0" rtlCol="0" anchor="t">
            <a:normAutofit/>
          </a:bodyPr>
          <a:lstStyle/>
          <a:p>
            <a:pPr algn="l">
              <a:lnSpc>
                <a:spcPts val="2601"/>
              </a:lnSpc>
            </a:pPr>
            <a:r>
              <a:rPr lang="en-US" sz="1700" b="0" dirty="0">
                <a:solidFill>
                  <a:srgbClr val="FFFFFF"/>
                </a:solidFill>
                <a:latin typeface="Arial" pitchFamily="34" charset="0"/>
                <a:ea typeface="Arial" pitchFamily="34" charset="-122"/>
                <a:cs typeface="Arial" pitchFamily="34" charset="-120"/>
              </a:rPr>
              <a:t>【更多的机助制图色彩】在CGIS出现不久后，美国哈佛大学研究生部主任Howard T.Fisher设计和建立了SYMAP系统软件</a:t>
            </a:r>
            <a:endParaRPr lang="en-US" sz="1734" dirty="0"/>
          </a:p>
        </p:txBody>
      </p:sp>
      <p:sp>
        <p:nvSpPr>
          <p:cNvPr id="5" name="Object4"/>
          <p:cNvSpPr/>
          <p:nvPr/>
        </p:nvSpPr>
        <p:spPr>
          <a:xfrm>
            <a:off x="876910" y="3783559"/>
            <a:ext cx="7498080" cy="720090"/>
          </a:xfrm>
          <a:prstGeom prst="rect">
            <a:avLst/>
          </a:prstGeom>
          <a:noFill/>
          <a:ln/>
        </p:spPr>
        <p:txBody>
          <a:bodyPr wrap="square" lIns="0" tIns="0" rIns="0" bIns="0" rtlCol="0" anchor="t">
            <a:normAutofit/>
          </a:bodyPr>
          <a:lstStyle/>
          <a:p>
            <a:pPr algn="l">
              <a:lnSpc>
                <a:spcPts val="2601"/>
              </a:lnSpc>
            </a:pPr>
            <a:r>
              <a:rPr lang="en-US" sz="1700" b="0" dirty="0">
                <a:solidFill>
                  <a:srgbClr val="FFFFFF"/>
                </a:solidFill>
                <a:latin typeface="Arial" pitchFamily="34" charset="0"/>
                <a:ea typeface="Arial" pitchFamily="34" charset="-122"/>
                <a:cs typeface="Arial" pitchFamily="34" charset="-120"/>
              </a:rPr>
              <a:t>【GIS研究组织和机构纷纷成立】966年美国成立了城市和区域信息系统协会（URISA），1968年国际地理联合会（IGU）设立了地理数据收集...</a:t>
            </a:r>
            <a:endParaRPr lang="en-US" sz="1734" dirty="0"/>
          </a:p>
        </p:txBody>
      </p:sp>
      <p:pic>
        <p:nvPicPr>
          <p:cNvPr id="6" name="Object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174" y="1760106"/>
            <a:ext cx="70409" cy="351301"/>
          </a:xfrm>
          <a:prstGeom prst="rect">
            <a:avLst/>
          </a:prstGeom>
        </p:spPr>
      </p:pic>
      <p:pic>
        <p:nvPicPr>
          <p:cNvPr id="7" name="Object 6"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03174" y="2771832"/>
            <a:ext cx="70409" cy="351301"/>
          </a:xfrm>
          <a:prstGeom prst="rect">
            <a:avLst/>
          </a:prstGeom>
        </p:spPr>
      </p:pic>
      <p:pic>
        <p:nvPicPr>
          <p:cNvPr id="8" name="Object 7"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703174" y="3783559"/>
            <a:ext cx="70409" cy="3513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08660" y="1311593"/>
            <a:ext cx="7772400" cy="2520315"/>
          </a:xfrm>
          <a:prstGeom prst="rect">
            <a:avLst/>
          </a:prstGeom>
          <a:noFill/>
          <a:ln/>
        </p:spPr>
        <p:txBody>
          <a:bodyPr wrap="square" lIns="0" tIns="0" rIns="0" bIns="0" rtlCol="0" anchor="t">
            <a:normAutofit/>
          </a:bodyPr>
          <a:lstStyle/>
          <a:p>
            <a:pPr algn="l">
              <a:lnSpc>
                <a:spcPts val="3731"/>
              </a:lnSpc>
            </a:pPr>
            <a:r>
              <a:rPr lang="en-US" sz="2700" b="1" dirty="0">
                <a:solidFill>
                  <a:srgbClr val="FFFFFF"/>
                </a:solidFill>
                <a:latin typeface="Arial" pitchFamily="34" charset="0"/>
                <a:ea typeface="Arial" pitchFamily="34" charset="-122"/>
                <a:cs typeface="Arial" pitchFamily="34" charset="-120"/>
              </a:rPr>
              <a:t>【GIS研究组织和机构纷纷成立】966年美国成立了城市和区域信息系统协会（URISA），1968年国际地理联合会（IGU）设立了地理数据收集委员会（CGDSP）。 这些组织和机构的建立对传播GIS知识和发展GIS技术起着重要的指导作用。</a:t>
            </a:r>
            <a:endParaRPr lang="en-US" sz="2665" dirty="0"/>
          </a:p>
        </p:txBody>
      </p:sp>
      <p:sp>
        <p:nvSpPr>
          <p:cNvPr id="3" name="Object2"/>
          <p:cNvSpPr/>
          <p:nvPr/>
        </p:nvSpPr>
        <p:spPr>
          <a:xfrm>
            <a:off x="256946" y="205740"/>
            <a:ext cx="1737360" cy="154305"/>
          </a:xfrm>
          <a:prstGeom prst="rect">
            <a:avLst/>
          </a:prstGeom>
          <a:noFill/>
          <a:ln/>
        </p:spPr>
        <p:txBody>
          <a:bodyPr wrap="square" lIns="0" tIns="0" rIns="0" bIns="0" rtlCol="0" anchor="t">
            <a:normAutofit/>
          </a:bodyPr>
          <a:lstStyle/>
          <a:p>
            <a:pPr algn="l">
              <a:lnSpc>
                <a:spcPts val="1035"/>
              </a:lnSpc>
            </a:pPr>
            <a:r>
              <a:rPr lang="en-US" sz="1000" b="0" dirty="0">
                <a:solidFill>
                  <a:srgbClr val="FFFFFF"/>
                </a:solidFill>
                <a:latin typeface="Arial" pitchFamily="34" charset="0"/>
                <a:ea typeface="Arial" pitchFamily="34" charset="-122"/>
                <a:cs typeface="Arial" pitchFamily="34" charset="-120"/>
              </a:rPr>
              <a:t>二十世纪60年代：起始发展...</a:t>
            </a:r>
            <a:endParaRPr lang="en-US" sz="973" dirty="0"/>
          </a:p>
        </p:txBody>
      </p:sp>
      <p:pic>
        <p:nvPicPr>
          <p:cNvPr id="4" name="Object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946" y="388849"/>
            <a:ext cx="256946" cy="226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03174" y="642938"/>
            <a:ext cx="7680960" cy="720090"/>
          </a:xfrm>
          <a:prstGeom prst="rect">
            <a:avLst/>
          </a:prstGeom>
          <a:noFill/>
          <a:ln/>
        </p:spPr>
        <p:txBody>
          <a:bodyPr wrap="square" lIns="0" tIns="0" rIns="0" bIns="0" rtlCol="0" anchor="t">
            <a:normAutofit/>
          </a:bodyPr>
          <a:lstStyle/>
          <a:p>
            <a:pPr algn="l">
              <a:lnSpc>
                <a:spcPts val="5224"/>
              </a:lnSpc>
            </a:pPr>
            <a:r>
              <a:rPr lang="en-US" sz="4000" b="1" dirty="0">
                <a:solidFill>
                  <a:srgbClr val="FFFFFF"/>
                </a:solidFill>
                <a:latin typeface="Arial" pitchFamily="34" charset="0"/>
                <a:ea typeface="Arial" pitchFamily="34" charset="-122"/>
                <a:cs typeface="Arial" pitchFamily="34" charset="-120"/>
              </a:rPr>
              <a:t>二十世纪60年代：起始发展阶段</a:t>
            </a:r>
            <a:endParaRPr lang="en-US" sz="4019" dirty="0"/>
          </a:p>
        </p:txBody>
      </p:sp>
      <p:sp>
        <p:nvSpPr>
          <p:cNvPr id="3" name="Object2"/>
          <p:cNvSpPr/>
          <p:nvPr/>
        </p:nvSpPr>
        <p:spPr>
          <a:xfrm>
            <a:off x="876910" y="1760106"/>
            <a:ext cx="7406640" cy="720090"/>
          </a:xfrm>
          <a:prstGeom prst="rect">
            <a:avLst/>
          </a:prstGeom>
          <a:noFill/>
          <a:ln/>
        </p:spPr>
        <p:txBody>
          <a:bodyPr wrap="square" lIns="0" tIns="0" rIns="0" bIns="0" rtlCol="0" anchor="t">
            <a:normAutofit/>
          </a:bodyPr>
          <a:lstStyle/>
          <a:p>
            <a:pPr algn="l">
              <a:lnSpc>
                <a:spcPts val="2601"/>
              </a:lnSpc>
            </a:pPr>
            <a:r>
              <a:rPr lang="en-US" sz="1700" b="0" dirty="0">
                <a:solidFill>
                  <a:srgbClr val="FFFFFF"/>
                </a:solidFill>
                <a:latin typeface="Arial" pitchFamily="34" charset="0"/>
                <a:ea typeface="Arial" pitchFamily="34" charset="-122"/>
                <a:cs typeface="Arial" pitchFamily="34" charset="-120"/>
              </a:rPr>
              <a:t>【世界上第一个地理信息系统】加拿大地理信息系统（CGIS）由加拿大测量学家R.F.Tomlinson提出并建立，主要用于自然资源的管理和规划。</a:t>
            </a:r>
            <a:endParaRPr lang="en-US" sz="1734" dirty="0"/>
          </a:p>
        </p:txBody>
      </p:sp>
      <p:sp>
        <p:nvSpPr>
          <p:cNvPr id="4" name="Object3"/>
          <p:cNvSpPr/>
          <p:nvPr/>
        </p:nvSpPr>
        <p:spPr>
          <a:xfrm>
            <a:off x="876910" y="2771832"/>
            <a:ext cx="7406640" cy="720090"/>
          </a:xfrm>
          <a:prstGeom prst="rect">
            <a:avLst/>
          </a:prstGeom>
          <a:noFill/>
          <a:ln/>
        </p:spPr>
        <p:txBody>
          <a:bodyPr wrap="square" lIns="0" tIns="0" rIns="0" bIns="0" rtlCol="0" anchor="t">
            <a:normAutofit/>
          </a:bodyPr>
          <a:lstStyle/>
          <a:p>
            <a:pPr algn="l">
              <a:lnSpc>
                <a:spcPts val="2601"/>
              </a:lnSpc>
            </a:pPr>
            <a:r>
              <a:rPr lang="en-US" sz="1700" b="0" dirty="0">
                <a:solidFill>
                  <a:srgbClr val="FFFFFF"/>
                </a:solidFill>
                <a:latin typeface="Arial" pitchFamily="34" charset="0"/>
                <a:ea typeface="Arial" pitchFamily="34" charset="-122"/>
                <a:cs typeface="Arial" pitchFamily="34" charset="-120"/>
              </a:rPr>
              <a:t>【更多的机助制图色彩】在CGIS出现不久后，美国哈佛大学研究生部主任Howard T.Fisher设计和建立了SYMAP系统软件</a:t>
            </a:r>
            <a:endParaRPr lang="en-US" sz="1734" dirty="0"/>
          </a:p>
        </p:txBody>
      </p:sp>
      <p:sp>
        <p:nvSpPr>
          <p:cNvPr id="5" name="Object4"/>
          <p:cNvSpPr/>
          <p:nvPr/>
        </p:nvSpPr>
        <p:spPr>
          <a:xfrm>
            <a:off x="876910" y="3783559"/>
            <a:ext cx="7498080" cy="720090"/>
          </a:xfrm>
          <a:prstGeom prst="rect">
            <a:avLst/>
          </a:prstGeom>
          <a:noFill/>
          <a:ln/>
        </p:spPr>
        <p:txBody>
          <a:bodyPr wrap="square" lIns="0" tIns="0" rIns="0" bIns="0" rtlCol="0" anchor="t">
            <a:normAutofit/>
          </a:bodyPr>
          <a:lstStyle/>
          <a:p>
            <a:pPr algn="l">
              <a:lnSpc>
                <a:spcPts val="2601"/>
              </a:lnSpc>
            </a:pPr>
            <a:r>
              <a:rPr lang="en-US" sz="1700" b="0" dirty="0">
                <a:solidFill>
                  <a:srgbClr val="FFFFFF"/>
                </a:solidFill>
                <a:latin typeface="Arial" pitchFamily="34" charset="0"/>
                <a:ea typeface="Arial" pitchFamily="34" charset="-122"/>
                <a:cs typeface="Arial" pitchFamily="34" charset="-120"/>
              </a:rPr>
              <a:t>【GIS研究组织和机构纷纷成立】966年美国成立了城市和区域信息系统协会（URISA），1968年国际地理联合会（IGU）设立了地理数据收集...</a:t>
            </a:r>
            <a:endParaRPr lang="en-US" sz="1734" dirty="0"/>
          </a:p>
        </p:txBody>
      </p:sp>
      <p:pic>
        <p:nvPicPr>
          <p:cNvPr id="6" name="Object 5"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174" y="1760106"/>
            <a:ext cx="70409" cy="351301"/>
          </a:xfrm>
          <a:prstGeom prst="rect">
            <a:avLst/>
          </a:prstGeom>
        </p:spPr>
      </p:pic>
      <p:pic>
        <p:nvPicPr>
          <p:cNvPr id="7" name="Object 6"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03174" y="2771832"/>
            <a:ext cx="70409" cy="351301"/>
          </a:xfrm>
          <a:prstGeom prst="rect">
            <a:avLst/>
          </a:prstGeom>
        </p:spPr>
      </p:pic>
      <p:pic>
        <p:nvPicPr>
          <p:cNvPr id="8" name="Object 7" descr="preencoded.png"/>
          <p:cNvPicPr>
            <a:picLocks noChangeAspect="1"/>
          </p:cNvPicPr>
          <p:nvPr/>
        </p:nvPicPr>
        <p:blipFill>
          <a:blip r:embed="rId3">
            <a:extLst>
              <a:ext uri="{96DAC541-7B7A-43D3-8B79-37D633B846F1}">
                <asvg:svgBlip xmlns:asvg="http://schemas.microsoft.com/office/drawing/2016/SVG/main" r:embed="rId6"/>
              </a:ext>
            </a:extLst>
          </a:blip>
          <a:stretch>
            <a:fillRect/>
          </a:stretch>
        </p:blipFill>
        <p:spPr>
          <a:xfrm>
            <a:off x="703174" y="3783559"/>
            <a:ext cx="70409" cy="3513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39750" y="2218906"/>
            <a:ext cx="7680960" cy="720090"/>
          </a:xfrm>
          <a:prstGeom prst="rect">
            <a:avLst/>
          </a:prstGeom>
          <a:noFill/>
          <a:ln/>
        </p:spPr>
        <p:txBody>
          <a:bodyPr wrap="square" lIns="0" tIns="0" rIns="0" bIns="0" rtlCol="0" anchor="t">
            <a:normAutofit/>
          </a:bodyPr>
          <a:lstStyle/>
          <a:p>
            <a:pPr algn="ctr">
              <a:lnSpc>
                <a:spcPts val="5224"/>
              </a:lnSpc>
            </a:pPr>
            <a:r>
              <a:rPr lang="en-US" sz="4000" b="1" dirty="0">
                <a:solidFill>
                  <a:srgbClr val="FFFFFF"/>
                </a:solidFill>
                <a:latin typeface="Arial" pitchFamily="34" charset="0"/>
                <a:ea typeface="Arial" pitchFamily="34" charset="-122"/>
                <a:cs typeface="Arial" pitchFamily="34" charset="-120"/>
              </a:rPr>
              <a:t>二十世纪70年代：发展巩固阶段</a:t>
            </a:r>
            <a:endParaRPr lang="en-US" sz="4019"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03174" y="642938"/>
            <a:ext cx="7680960" cy="720090"/>
          </a:xfrm>
          <a:prstGeom prst="rect">
            <a:avLst/>
          </a:prstGeom>
          <a:noFill/>
          <a:ln/>
        </p:spPr>
        <p:txBody>
          <a:bodyPr wrap="square" lIns="0" tIns="0" rIns="0" bIns="0" rtlCol="0" anchor="t">
            <a:normAutofit/>
          </a:bodyPr>
          <a:lstStyle/>
          <a:p>
            <a:pPr algn="l">
              <a:lnSpc>
                <a:spcPts val="5224"/>
              </a:lnSpc>
            </a:pPr>
            <a:r>
              <a:rPr lang="en-US" sz="4000" b="1" dirty="0">
                <a:solidFill>
                  <a:srgbClr val="FFFFFF"/>
                </a:solidFill>
                <a:latin typeface="Arial" pitchFamily="34" charset="0"/>
                <a:ea typeface="Arial" pitchFamily="34" charset="-122"/>
                <a:cs typeface="Arial" pitchFamily="34" charset="-120"/>
              </a:rPr>
              <a:t>二十世纪70年代：发展巩固阶段</a:t>
            </a:r>
            <a:endParaRPr lang="en-US" sz="4019" dirty="0"/>
          </a:p>
        </p:txBody>
      </p:sp>
      <p:sp>
        <p:nvSpPr>
          <p:cNvPr id="3" name="Object2"/>
          <p:cNvSpPr/>
          <p:nvPr/>
        </p:nvSpPr>
        <p:spPr>
          <a:xfrm>
            <a:off x="891540" y="1760106"/>
            <a:ext cx="7498080" cy="822960"/>
          </a:xfrm>
          <a:prstGeom prst="rect">
            <a:avLst/>
          </a:prstGeom>
          <a:noFill/>
          <a:ln/>
        </p:spPr>
        <p:txBody>
          <a:bodyPr wrap="square" lIns="0" tIns="0" rIns="0" bIns="0" rtlCol="0" anchor="t">
            <a:normAutofit/>
          </a:bodyPr>
          <a:lstStyle/>
          <a:p>
            <a:pPr algn="l">
              <a:lnSpc>
                <a:spcPts val="2961"/>
              </a:lnSpc>
            </a:pPr>
            <a:r>
              <a:rPr lang="en-US" sz="2100" b="0" dirty="0">
                <a:solidFill>
                  <a:srgbClr val="FFFFFF"/>
                </a:solidFill>
                <a:latin typeface="Arial" pitchFamily="34" charset="0"/>
                <a:ea typeface="Arial" pitchFamily="34" charset="-122"/>
                <a:cs typeface="Arial" pitchFamily="34" charset="-120"/>
              </a:rPr>
              <a:t>【不同类型的各具特色的地理信息系统】从1970年到1976年，美国地质调查局发展了50多个地理信息系统，用于获...</a:t>
            </a:r>
            <a:endParaRPr lang="en-US" sz="2115" dirty="0"/>
          </a:p>
        </p:txBody>
      </p:sp>
      <p:sp>
        <p:nvSpPr>
          <p:cNvPr id="4" name="Object3"/>
          <p:cNvSpPr/>
          <p:nvPr/>
        </p:nvSpPr>
        <p:spPr>
          <a:xfrm>
            <a:off x="891540" y="2869044"/>
            <a:ext cx="7498080" cy="822960"/>
          </a:xfrm>
          <a:prstGeom prst="rect">
            <a:avLst/>
          </a:prstGeom>
          <a:noFill/>
          <a:ln/>
        </p:spPr>
        <p:txBody>
          <a:bodyPr wrap="square" lIns="0" tIns="0" rIns="0" bIns="0" rtlCol="0" anchor="t">
            <a:normAutofit/>
          </a:bodyPr>
          <a:lstStyle/>
          <a:p>
            <a:pPr algn="l">
              <a:lnSpc>
                <a:spcPts val="2961"/>
              </a:lnSpc>
            </a:pPr>
            <a:r>
              <a:rPr lang="en-US" sz="2100" b="0" dirty="0">
                <a:solidFill>
                  <a:srgbClr val="FFFFFF"/>
                </a:solidFill>
                <a:latin typeface="Arial" pitchFamily="34" charset="0"/>
                <a:ea typeface="Arial" pitchFamily="34" charset="-122"/>
                <a:cs typeface="Arial" pitchFamily="34" charset="-120"/>
              </a:rPr>
              <a:t>【到政府、商业和学校的普遍重视】一些商业公司开始活跃起来，软件在市场上受到欢迎，许多大学和机构开始重视...</a:t>
            </a:r>
            <a:endParaRPr lang="en-US" sz="2115" dirty="0"/>
          </a:p>
        </p:txBody>
      </p:sp>
      <p:pic>
        <p:nvPicPr>
          <p:cNvPr id="5" name="Object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174" y="1760106"/>
            <a:ext cx="85954" cy="400164"/>
          </a:xfrm>
          <a:prstGeom prst="rect">
            <a:avLst/>
          </a:prstGeom>
        </p:spPr>
      </p:pic>
      <p:pic>
        <p:nvPicPr>
          <p:cNvPr id="6" name="Object 5"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03174" y="2869044"/>
            <a:ext cx="85954" cy="4001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14146" y="1221581"/>
            <a:ext cx="7772400" cy="2726055"/>
          </a:xfrm>
          <a:prstGeom prst="rect">
            <a:avLst/>
          </a:prstGeom>
          <a:noFill/>
          <a:ln/>
        </p:spPr>
        <p:txBody>
          <a:bodyPr wrap="square" lIns="0" tIns="0" rIns="0" bIns="0" rtlCol="0" anchor="t">
            <a:normAutofit/>
          </a:bodyPr>
          <a:lstStyle/>
          <a:p>
            <a:pPr algn="l">
              <a:lnSpc>
                <a:spcPts val="2855"/>
              </a:lnSpc>
            </a:pPr>
            <a:r>
              <a:rPr lang="en-US" sz="1900" b="1" dirty="0">
                <a:solidFill>
                  <a:srgbClr val="FFFFFF"/>
                </a:solidFill>
                <a:latin typeface="Arial" pitchFamily="34" charset="0"/>
                <a:ea typeface="Arial" pitchFamily="34" charset="-122"/>
                <a:cs typeface="Arial" pitchFamily="34" charset="-120"/>
              </a:rPr>
              <a:t>【不同类型的各具特色的地理信息系统】从1970年到1976年，美国地质调查局发展了50多个地理信息系统，用于获取和处理地质、地理、地形和水资源信息； 1974年日本国土地理院开始建立数字国土信息系统，存储、处理和检索测量数据、航空像片信息、行政区划、土地利用、地形地质等信息； 瑞典在中央、区域和城市三级建立了许多信息系统，如土地测量信息系统、斯德哥尔摩地理信息系统、城市规划信息系统等。</a:t>
            </a:r>
            <a:endParaRPr lang="en-US" sz="1904" dirty="0"/>
          </a:p>
        </p:txBody>
      </p:sp>
      <p:sp>
        <p:nvSpPr>
          <p:cNvPr id="3" name="Object2"/>
          <p:cNvSpPr/>
          <p:nvPr/>
        </p:nvSpPr>
        <p:spPr>
          <a:xfrm>
            <a:off x="256946" y="205740"/>
            <a:ext cx="1737360" cy="154305"/>
          </a:xfrm>
          <a:prstGeom prst="rect">
            <a:avLst/>
          </a:prstGeom>
          <a:noFill/>
          <a:ln/>
        </p:spPr>
        <p:txBody>
          <a:bodyPr wrap="square" lIns="0" tIns="0" rIns="0" bIns="0" rtlCol="0" anchor="t">
            <a:normAutofit/>
          </a:bodyPr>
          <a:lstStyle/>
          <a:p>
            <a:pPr algn="l">
              <a:lnSpc>
                <a:spcPts val="1035"/>
              </a:lnSpc>
            </a:pPr>
            <a:r>
              <a:rPr lang="en-US" sz="1000" b="0" dirty="0">
                <a:solidFill>
                  <a:srgbClr val="FFFFFF"/>
                </a:solidFill>
                <a:latin typeface="Arial" pitchFamily="34" charset="0"/>
                <a:ea typeface="Arial" pitchFamily="34" charset="-122"/>
                <a:cs typeface="Arial" pitchFamily="34" charset="-120"/>
              </a:rPr>
              <a:t>二十世纪70年代：发展巩固...</a:t>
            </a:r>
            <a:endParaRPr lang="en-US" sz="973" dirty="0"/>
          </a:p>
        </p:txBody>
      </p:sp>
      <p:pic>
        <p:nvPicPr>
          <p:cNvPr id="4" name="Object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946" y="388849"/>
            <a:ext cx="256946" cy="2263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51637" y="1299762"/>
            <a:ext cx="7680960" cy="2571750"/>
          </a:xfrm>
          <a:prstGeom prst="rect">
            <a:avLst/>
          </a:prstGeom>
          <a:noFill/>
          <a:ln/>
        </p:spPr>
        <p:txBody>
          <a:bodyPr wrap="square" lIns="0" tIns="0" rIns="0" bIns="0" rtlCol="0" anchor="t">
            <a:normAutofit/>
          </a:bodyPr>
          <a:lstStyle/>
          <a:p>
            <a:pPr algn="l">
              <a:lnSpc>
                <a:spcPts val="3139"/>
              </a:lnSpc>
            </a:pPr>
            <a:r>
              <a:rPr lang="en-US" sz="2200" b="1" dirty="0">
                <a:solidFill>
                  <a:srgbClr val="FFFFFF"/>
                </a:solidFill>
                <a:latin typeface="Arial" pitchFamily="34" charset="0"/>
                <a:ea typeface="Arial" pitchFamily="34" charset="-122"/>
                <a:cs typeface="Arial" pitchFamily="34" charset="-120"/>
              </a:rPr>
              <a:t>【到政府、商业和学校的普遍重视】一些商业公司开始活跃起来，软件在市场上受到欢迎，许多大学和机构开始重视GIS软件设计及应用研究，如纽约州立大学布法罗校区创建了GIS实验室， 1988年发展成为包括加州大学和缅因州大学在内的由美国国家科学基金会支持的国家地理信息和分析中心（NCGIA）。</a:t>
            </a:r>
            <a:endParaRPr lang="en-US" sz="2242" dirty="0"/>
          </a:p>
        </p:txBody>
      </p:sp>
      <p:sp>
        <p:nvSpPr>
          <p:cNvPr id="3" name="Object2"/>
          <p:cNvSpPr/>
          <p:nvPr/>
        </p:nvSpPr>
        <p:spPr>
          <a:xfrm>
            <a:off x="256946" y="205740"/>
            <a:ext cx="1737360" cy="154305"/>
          </a:xfrm>
          <a:prstGeom prst="rect">
            <a:avLst/>
          </a:prstGeom>
          <a:noFill/>
          <a:ln/>
        </p:spPr>
        <p:txBody>
          <a:bodyPr wrap="square" lIns="0" tIns="0" rIns="0" bIns="0" rtlCol="0" anchor="t">
            <a:normAutofit/>
          </a:bodyPr>
          <a:lstStyle/>
          <a:p>
            <a:pPr algn="l">
              <a:lnSpc>
                <a:spcPts val="1035"/>
              </a:lnSpc>
            </a:pPr>
            <a:r>
              <a:rPr lang="en-US" sz="1000" b="0" dirty="0">
                <a:solidFill>
                  <a:srgbClr val="FFFFFF"/>
                </a:solidFill>
                <a:latin typeface="Arial" pitchFamily="34" charset="0"/>
                <a:ea typeface="Arial" pitchFamily="34" charset="-122"/>
                <a:cs typeface="Arial" pitchFamily="34" charset="-120"/>
              </a:rPr>
              <a:t>二十世纪70年代：发展巩固...</a:t>
            </a:r>
            <a:endParaRPr lang="en-US" sz="973" dirty="0"/>
          </a:p>
        </p:txBody>
      </p:sp>
      <p:pic>
        <p:nvPicPr>
          <p:cNvPr id="4" name="Object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946" y="388849"/>
            <a:ext cx="256946" cy="2263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03174" y="642938"/>
            <a:ext cx="7680960" cy="720090"/>
          </a:xfrm>
          <a:prstGeom prst="rect">
            <a:avLst/>
          </a:prstGeom>
          <a:noFill/>
          <a:ln/>
        </p:spPr>
        <p:txBody>
          <a:bodyPr wrap="square" lIns="0" tIns="0" rIns="0" bIns="0" rtlCol="0" anchor="t">
            <a:normAutofit/>
          </a:bodyPr>
          <a:lstStyle/>
          <a:p>
            <a:pPr algn="l">
              <a:lnSpc>
                <a:spcPts val="5224"/>
              </a:lnSpc>
            </a:pPr>
            <a:r>
              <a:rPr lang="en-US" sz="4000" b="1" dirty="0">
                <a:solidFill>
                  <a:srgbClr val="FFFFFF"/>
                </a:solidFill>
                <a:latin typeface="Arial" pitchFamily="34" charset="0"/>
                <a:ea typeface="Arial" pitchFamily="34" charset="-122"/>
                <a:cs typeface="Arial" pitchFamily="34" charset="-120"/>
              </a:rPr>
              <a:t>二十世纪70年代：发展巩固阶段</a:t>
            </a:r>
            <a:endParaRPr lang="en-US" sz="4019" dirty="0"/>
          </a:p>
        </p:txBody>
      </p:sp>
      <p:sp>
        <p:nvSpPr>
          <p:cNvPr id="3" name="Object2"/>
          <p:cNvSpPr/>
          <p:nvPr/>
        </p:nvSpPr>
        <p:spPr>
          <a:xfrm>
            <a:off x="891540" y="1760106"/>
            <a:ext cx="7498080" cy="822960"/>
          </a:xfrm>
          <a:prstGeom prst="rect">
            <a:avLst/>
          </a:prstGeom>
          <a:noFill/>
          <a:ln/>
        </p:spPr>
        <p:txBody>
          <a:bodyPr wrap="square" lIns="0" tIns="0" rIns="0" bIns="0" rtlCol="0" anchor="t">
            <a:normAutofit/>
          </a:bodyPr>
          <a:lstStyle/>
          <a:p>
            <a:pPr algn="l">
              <a:lnSpc>
                <a:spcPts val="2961"/>
              </a:lnSpc>
            </a:pPr>
            <a:r>
              <a:rPr lang="en-US" sz="2100" b="0" dirty="0">
                <a:solidFill>
                  <a:srgbClr val="FFFFFF"/>
                </a:solidFill>
                <a:latin typeface="Arial" pitchFamily="34" charset="0"/>
                <a:ea typeface="Arial" pitchFamily="34" charset="-122"/>
                <a:cs typeface="Arial" pitchFamily="34" charset="-120"/>
              </a:rPr>
              <a:t>【不同类型的各具特色的地理信息系统】从1970年到1976年，美国地质调查局发展了50多个地理信息系统，用于获...</a:t>
            </a:r>
            <a:endParaRPr lang="en-US" sz="2115" dirty="0"/>
          </a:p>
        </p:txBody>
      </p:sp>
      <p:sp>
        <p:nvSpPr>
          <p:cNvPr id="4" name="Object3"/>
          <p:cNvSpPr/>
          <p:nvPr/>
        </p:nvSpPr>
        <p:spPr>
          <a:xfrm>
            <a:off x="891540" y="2869044"/>
            <a:ext cx="7498080" cy="822960"/>
          </a:xfrm>
          <a:prstGeom prst="rect">
            <a:avLst/>
          </a:prstGeom>
          <a:noFill/>
          <a:ln/>
        </p:spPr>
        <p:txBody>
          <a:bodyPr wrap="square" lIns="0" tIns="0" rIns="0" bIns="0" rtlCol="0" anchor="t">
            <a:normAutofit/>
          </a:bodyPr>
          <a:lstStyle/>
          <a:p>
            <a:pPr algn="l">
              <a:lnSpc>
                <a:spcPts val="2961"/>
              </a:lnSpc>
            </a:pPr>
            <a:r>
              <a:rPr lang="en-US" sz="2100" b="0" dirty="0">
                <a:solidFill>
                  <a:srgbClr val="FFFFFF"/>
                </a:solidFill>
                <a:latin typeface="Arial" pitchFamily="34" charset="0"/>
                <a:ea typeface="Arial" pitchFamily="34" charset="-122"/>
                <a:cs typeface="Arial" pitchFamily="34" charset="-120"/>
              </a:rPr>
              <a:t>【到政府、商业和学校的普遍重视】一些商业公司开始活跃起来，软件在市场上受到欢迎，许多大学和机构开始重视...</a:t>
            </a:r>
            <a:endParaRPr lang="en-US" sz="2115" dirty="0"/>
          </a:p>
        </p:txBody>
      </p:sp>
      <p:pic>
        <p:nvPicPr>
          <p:cNvPr id="5" name="Object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174" y="1760106"/>
            <a:ext cx="85954" cy="400164"/>
          </a:xfrm>
          <a:prstGeom prst="rect">
            <a:avLst/>
          </a:prstGeom>
        </p:spPr>
      </p:pic>
      <p:pic>
        <p:nvPicPr>
          <p:cNvPr id="6" name="Object 5"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03174" y="2869044"/>
            <a:ext cx="85954" cy="4001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39750" y="2218906"/>
            <a:ext cx="7680960" cy="720090"/>
          </a:xfrm>
          <a:prstGeom prst="rect">
            <a:avLst/>
          </a:prstGeom>
          <a:noFill/>
          <a:ln/>
        </p:spPr>
        <p:txBody>
          <a:bodyPr wrap="square" lIns="0" tIns="0" rIns="0" bIns="0" rtlCol="0" anchor="t">
            <a:normAutofit/>
          </a:bodyPr>
          <a:lstStyle/>
          <a:p>
            <a:pPr algn="ctr">
              <a:lnSpc>
                <a:spcPts val="5224"/>
              </a:lnSpc>
            </a:pPr>
            <a:r>
              <a:rPr lang="en-US" sz="4000" b="1" dirty="0">
                <a:solidFill>
                  <a:srgbClr val="FFFFFF"/>
                </a:solidFill>
                <a:latin typeface="Arial" pitchFamily="34" charset="0"/>
                <a:ea typeface="Arial" pitchFamily="34" charset="-122"/>
                <a:cs typeface="Arial" pitchFamily="34" charset="-120"/>
              </a:rPr>
              <a:t>二十世纪80年代：推广应用阶段</a:t>
            </a:r>
            <a:endParaRPr lang="en-US" sz="4019"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03174" y="642938"/>
            <a:ext cx="7680960" cy="720090"/>
          </a:xfrm>
          <a:prstGeom prst="rect">
            <a:avLst/>
          </a:prstGeom>
          <a:noFill/>
          <a:ln/>
        </p:spPr>
        <p:txBody>
          <a:bodyPr wrap="square" lIns="0" tIns="0" rIns="0" bIns="0" rtlCol="0" anchor="t">
            <a:normAutofit/>
          </a:bodyPr>
          <a:lstStyle/>
          <a:p>
            <a:pPr algn="l">
              <a:lnSpc>
                <a:spcPts val="5224"/>
              </a:lnSpc>
            </a:pPr>
            <a:r>
              <a:rPr lang="en-US" sz="4000" b="1" dirty="0">
                <a:solidFill>
                  <a:srgbClr val="FFFFFF"/>
                </a:solidFill>
                <a:latin typeface="Arial" pitchFamily="34" charset="0"/>
                <a:ea typeface="Arial" pitchFamily="34" charset="-122"/>
                <a:cs typeface="Arial" pitchFamily="34" charset="-120"/>
              </a:rPr>
              <a:t>二十世纪80年代：推广应用阶段</a:t>
            </a:r>
            <a:endParaRPr lang="en-US" sz="4019" dirty="0"/>
          </a:p>
        </p:txBody>
      </p:sp>
      <p:sp>
        <p:nvSpPr>
          <p:cNvPr id="3" name="Object2"/>
          <p:cNvSpPr/>
          <p:nvPr/>
        </p:nvSpPr>
        <p:spPr>
          <a:xfrm>
            <a:off x="891540" y="1760106"/>
            <a:ext cx="7406640" cy="822960"/>
          </a:xfrm>
          <a:prstGeom prst="rect">
            <a:avLst/>
          </a:prstGeom>
          <a:noFill/>
          <a:ln/>
        </p:spPr>
        <p:txBody>
          <a:bodyPr wrap="square" lIns="0" tIns="0" rIns="0" bIns="0" rtlCol="0" anchor="t">
            <a:normAutofit/>
          </a:bodyPr>
          <a:lstStyle/>
          <a:p>
            <a:pPr algn="l">
              <a:lnSpc>
                <a:spcPts val="2961"/>
              </a:lnSpc>
            </a:pPr>
            <a:r>
              <a:rPr lang="en-US" sz="2100" b="0" dirty="0">
                <a:solidFill>
                  <a:srgbClr val="FFFFFF"/>
                </a:solidFill>
                <a:latin typeface="Arial" pitchFamily="34" charset="0"/>
                <a:ea typeface="Arial" pitchFamily="34" charset="-122"/>
                <a:cs typeface="Arial" pitchFamily="34" charset="-120"/>
              </a:rPr>
              <a:t>【GIS逐步走向成熟】GIS与卫星遥感技术结合，开始用于全球性的问题，如全球变化和全球监测、全球沙漠化、全...</a:t>
            </a:r>
            <a:endParaRPr lang="en-US" sz="2115" dirty="0"/>
          </a:p>
        </p:txBody>
      </p:sp>
      <p:sp>
        <p:nvSpPr>
          <p:cNvPr id="4" name="Object3"/>
          <p:cNvSpPr/>
          <p:nvPr/>
        </p:nvSpPr>
        <p:spPr>
          <a:xfrm>
            <a:off x="891540" y="2869044"/>
            <a:ext cx="7589520" cy="822960"/>
          </a:xfrm>
          <a:prstGeom prst="rect">
            <a:avLst/>
          </a:prstGeom>
          <a:noFill/>
          <a:ln/>
        </p:spPr>
        <p:txBody>
          <a:bodyPr wrap="square" lIns="0" tIns="0" rIns="0" bIns="0" rtlCol="0" anchor="t">
            <a:normAutofit/>
          </a:bodyPr>
          <a:lstStyle/>
          <a:p>
            <a:pPr algn="l">
              <a:lnSpc>
                <a:spcPts val="2961"/>
              </a:lnSpc>
            </a:pPr>
            <a:r>
              <a:rPr lang="en-US" sz="2100" b="0" dirty="0">
                <a:solidFill>
                  <a:srgbClr val="FFFFFF"/>
                </a:solidFill>
                <a:latin typeface="Arial" pitchFamily="34" charset="0"/>
                <a:ea typeface="Arial" pitchFamily="34" charset="-122"/>
                <a:cs typeface="Arial" pitchFamily="34" charset="-120"/>
              </a:rPr>
              <a:t>【突破性的年代】仅1989年市场上有报价的软件就达70多个，并涌现出一些有代表性的GIS软件， 如ARC/INFO、G...</a:t>
            </a:r>
            <a:endParaRPr lang="en-US" sz="2115" dirty="0"/>
          </a:p>
        </p:txBody>
      </p:sp>
      <p:pic>
        <p:nvPicPr>
          <p:cNvPr id="5" name="Object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174" y="1760106"/>
            <a:ext cx="85954" cy="400164"/>
          </a:xfrm>
          <a:prstGeom prst="rect">
            <a:avLst/>
          </a:prstGeom>
        </p:spPr>
      </p:pic>
      <p:pic>
        <p:nvPicPr>
          <p:cNvPr id="6" name="Object 5"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03174" y="2869044"/>
            <a:ext cx="85954" cy="4001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16890" y="1299762"/>
            <a:ext cx="7772400" cy="2571750"/>
          </a:xfrm>
          <a:prstGeom prst="rect">
            <a:avLst/>
          </a:prstGeom>
          <a:noFill/>
          <a:ln/>
        </p:spPr>
        <p:txBody>
          <a:bodyPr wrap="square" lIns="0" tIns="0" rIns="0" bIns="0" rtlCol="0" anchor="t">
            <a:normAutofit/>
          </a:bodyPr>
          <a:lstStyle/>
          <a:p>
            <a:pPr algn="l">
              <a:lnSpc>
                <a:spcPts val="3139"/>
              </a:lnSpc>
            </a:pPr>
            <a:r>
              <a:rPr lang="en-US" sz="2200" b="1" dirty="0">
                <a:solidFill>
                  <a:srgbClr val="FFFFFF"/>
                </a:solidFill>
                <a:latin typeface="Arial" pitchFamily="34" charset="0"/>
                <a:ea typeface="Arial" pitchFamily="34" charset="-122"/>
                <a:cs typeface="Arial" pitchFamily="34" charset="-120"/>
              </a:rPr>
              <a:t>【GIS逐步走向成熟】GIS与卫星遥感技术结合，开始用于全球性的问题，如全球变化和全球监测、全球沙漠化、全球可居住区评价、厄尔尼诺现象、酸雨、核扩散及核废料等。 美国地质调查局应用地理信息系统对美国三里岛核泄漏事件在24小时内就做出了反应，并迅速地对核扩散进行了影响评价。</a:t>
            </a:r>
            <a:endParaRPr lang="en-US" sz="2242" dirty="0"/>
          </a:p>
        </p:txBody>
      </p:sp>
      <p:sp>
        <p:nvSpPr>
          <p:cNvPr id="3" name="Object2"/>
          <p:cNvSpPr/>
          <p:nvPr/>
        </p:nvSpPr>
        <p:spPr>
          <a:xfrm>
            <a:off x="256946" y="205740"/>
            <a:ext cx="1737360" cy="154305"/>
          </a:xfrm>
          <a:prstGeom prst="rect">
            <a:avLst/>
          </a:prstGeom>
          <a:noFill/>
          <a:ln/>
        </p:spPr>
        <p:txBody>
          <a:bodyPr wrap="square" lIns="0" tIns="0" rIns="0" bIns="0" rtlCol="0" anchor="t">
            <a:normAutofit/>
          </a:bodyPr>
          <a:lstStyle/>
          <a:p>
            <a:pPr algn="l">
              <a:lnSpc>
                <a:spcPts val="1035"/>
              </a:lnSpc>
            </a:pPr>
            <a:r>
              <a:rPr lang="en-US" sz="1000" b="0" dirty="0">
                <a:solidFill>
                  <a:srgbClr val="FFFFFF"/>
                </a:solidFill>
                <a:latin typeface="Arial" pitchFamily="34" charset="0"/>
                <a:ea typeface="Arial" pitchFamily="34" charset="-122"/>
                <a:cs typeface="Arial" pitchFamily="34" charset="-120"/>
              </a:rPr>
              <a:t>二十世纪80年代：推广应用...</a:t>
            </a:r>
            <a:endParaRPr lang="en-US" sz="973" dirty="0"/>
          </a:p>
        </p:txBody>
      </p:sp>
      <p:pic>
        <p:nvPicPr>
          <p:cNvPr id="4" name="Object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946" y="388849"/>
            <a:ext cx="256946" cy="2263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14146" y="1311593"/>
            <a:ext cx="7772400" cy="2520315"/>
          </a:xfrm>
          <a:prstGeom prst="rect">
            <a:avLst/>
          </a:prstGeom>
          <a:noFill/>
          <a:ln/>
        </p:spPr>
        <p:txBody>
          <a:bodyPr wrap="square" lIns="0" tIns="0" rIns="0" bIns="0" rtlCol="0" anchor="t">
            <a:normAutofit/>
          </a:bodyPr>
          <a:lstStyle/>
          <a:p>
            <a:pPr algn="l">
              <a:lnSpc>
                <a:spcPts val="3109"/>
              </a:lnSpc>
            </a:pPr>
            <a:r>
              <a:rPr lang="en-US" sz="2100" b="1" dirty="0">
                <a:solidFill>
                  <a:srgbClr val="FFFFFF"/>
                </a:solidFill>
                <a:latin typeface="Arial" pitchFamily="34" charset="0"/>
                <a:ea typeface="Arial" pitchFamily="34" charset="-122"/>
                <a:cs typeface="Arial" pitchFamily="34" charset="-120"/>
              </a:rPr>
              <a:t>【突破性的年代】仅1989年市场上有报价的软件就达70多个，并涌现出一些有代表性的GIS软件， 如ARC/INFO、GENAMAP、SPANS、MAPINFO、ERDAS、Microstation、SICAD、IGDS/MRS等。 其中ARC/INFO已经愈来愈多地为世界各国地质调查部门所采用， 并在区域地质调查、区域矿产资源与环境评价、矿产资源与矿权管理中发挥越来越重要作用。</a:t>
            </a:r>
            <a:endParaRPr lang="en-US" sz="2073" dirty="0"/>
          </a:p>
        </p:txBody>
      </p:sp>
      <p:sp>
        <p:nvSpPr>
          <p:cNvPr id="3" name="Object2"/>
          <p:cNvSpPr/>
          <p:nvPr/>
        </p:nvSpPr>
        <p:spPr>
          <a:xfrm>
            <a:off x="256946" y="205740"/>
            <a:ext cx="1737360" cy="154305"/>
          </a:xfrm>
          <a:prstGeom prst="rect">
            <a:avLst/>
          </a:prstGeom>
          <a:noFill/>
          <a:ln/>
        </p:spPr>
        <p:txBody>
          <a:bodyPr wrap="square" lIns="0" tIns="0" rIns="0" bIns="0" rtlCol="0" anchor="t">
            <a:normAutofit/>
          </a:bodyPr>
          <a:lstStyle/>
          <a:p>
            <a:pPr algn="l">
              <a:lnSpc>
                <a:spcPts val="1035"/>
              </a:lnSpc>
            </a:pPr>
            <a:r>
              <a:rPr lang="en-US" sz="1000" b="0" dirty="0">
                <a:solidFill>
                  <a:srgbClr val="FFFFFF"/>
                </a:solidFill>
                <a:latin typeface="Arial" pitchFamily="34" charset="0"/>
                <a:ea typeface="Arial" pitchFamily="34" charset="-122"/>
                <a:cs typeface="Arial" pitchFamily="34" charset="-120"/>
              </a:rPr>
              <a:t>二十世纪80年代：推广应用...</a:t>
            </a:r>
            <a:endParaRPr lang="en-US" sz="973" dirty="0"/>
          </a:p>
        </p:txBody>
      </p:sp>
      <p:pic>
        <p:nvPicPr>
          <p:cNvPr id="4" name="Object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946" y="388849"/>
            <a:ext cx="256946" cy="2263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03174" y="642938"/>
            <a:ext cx="7680960" cy="720090"/>
          </a:xfrm>
          <a:prstGeom prst="rect">
            <a:avLst/>
          </a:prstGeom>
          <a:noFill/>
          <a:ln/>
        </p:spPr>
        <p:txBody>
          <a:bodyPr wrap="square" lIns="0" tIns="0" rIns="0" bIns="0" rtlCol="0" anchor="t">
            <a:normAutofit/>
          </a:bodyPr>
          <a:lstStyle/>
          <a:p>
            <a:pPr algn="l">
              <a:lnSpc>
                <a:spcPts val="5224"/>
              </a:lnSpc>
            </a:pPr>
            <a:r>
              <a:rPr lang="en-US" sz="4000" b="1" dirty="0">
                <a:solidFill>
                  <a:srgbClr val="FFFFFF"/>
                </a:solidFill>
                <a:latin typeface="Arial" pitchFamily="34" charset="0"/>
                <a:ea typeface="Arial" pitchFamily="34" charset="-122"/>
                <a:cs typeface="Arial" pitchFamily="34" charset="-120"/>
              </a:rPr>
              <a:t>二十世纪80年代：推广应用阶段</a:t>
            </a:r>
            <a:endParaRPr lang="en-US" sz="4019" dirty="0"/>
          </a:p>
        </p:txBody>
      </p:sp>
      <p:sp>
        <p:nvSpPr>
          <p:cNvPr id="3" name="Object2"/>
          <p:cNvSpPr/>
          <p:nvPr/>
        </p:nvSpPr>
        <p:spPr>
          <a:xfrm>
            <a:off x="891540" y="1760106"/>
            <a:ext cx="7406640" cy="822960"/>
          </a:xfrm>
          <a:prstGeom prst="rect">
            <a:avLst/>
          </a:prstGeom>
          <a:noFill/>
          <a:ln/>
        </p:spPr>
        <p:txBody>
          <a:bodyPr wrap="square" lIns="0" tIns="0" rIns="0" bIns="0" rtlCol="0" anchor="t">
            <a:normAutofit/>
          </a:bodyPr>
          <a:lstStyle/>
          <a:p>
            <a:pPr algn="l">
              <a:lnSpc>
                <a:spcPts val="2961"/>
              </a:lnSpc>
            </a:pPr>
            <a:r>
              <a:rPr lang="en-US" sz="2100" b="0" dirty="0">
                <a:solidFill>
                  <a:srgbClr val="FFFFFF"/>
                </a:solidFill>
                <a:latin typeface="Arial" pitchFamily="34" charset="0"/>
                <a:ea typeface="Arial" pitchFamily="34" charset="-122"/>
                <a:cs typeface="Arial" pitchFamily="34" charset="-120"/>
              </a:rPr>
              <a:t>【GIS逐步走向成熟】GIS与卫星遥感技术结合，开始用于全球性的问题，如全球变化和全球监测、全球沙漠化、全...</a:t>
            </a:r>
            <a:endParaRPr lang="en-US" sz="2115" dirty="0"/>
          </a:p>
        </p:txBody>
      </p:sp>
      <p:sp>
        <p:nvSpPr>
          <p:cNvPr id="4" name="Object3"/>
          <p:cNvSpPr/>
          <p:nvPr/>
        </p:nvSpPr>
        <p:spPr>
          <a:xfrm>
            <a:off x="891540" y="2869044"/>
            <a:ext cx="7589520" cy="822960"/>
          </a:xfrm>
          <a:prstGeom prst="rect">
            <a:avLst/>
          </a:prstGeom>
          <a:noFill/>
          <a:ln/>
        </p:spPr>
        <p:txBody>
          <a:bodyPr wrap="square" lIns="0" tIns="0" rIns="0" bIns="0" rtlCol="0" anchor="t">
            <a:normAutofit/>
          </a:bodyPr>
          <a:lstStyle/>
          <a:p>
            <a:pPr algn="l">
              <a:lnSpc>
                <a:spcPts val="2961"/>
              </a:lnSpc>
            </a:pPr>
            <a:r>
              <a:rPr lang="en-US" sz="2100" b="0" dirty="0">
                <a:solidFill>
                  <a:srgbClr val="FFFFFF"/>
                </a:solidFill>
                <a:latin typeface="Arial" pitchFamily="34" charset="0"/>
                <a:ea typeface="Arial" pitchFamily="34" charset="-122"/>
                <a:cs typeface="Arial" pitchFamily="34" charset="-120"/>
              </a:rPr>
              <a:t>【突破性的年代】仅1989年市场上有报价的软件就达70多个，并涌现出一些有代表性的GIS软件， 如ARC/INFO、G...</a:t>
            </a:r>
            <a:endParaRPr lang="en-US" sz="2115" dirty="0"/>
          </a:p>
        </p:txBody>
      </p:sp>
      <p:pic>
        <p:nvPicPr>
          <p:cNvPr id="5" name="Object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174" y="1760106"/>
            <a:ext cx="85954" cy="400164"/>
          </a:xfrm>
          <a:prstGeom prst="rect">
            <a:avLst/>
          </a:prstGeom>
        </p:spPr>
      </p:pic>
      <p:pic>
        <p:nvPicPr>
          <p:cNvPr id="6" name="Object 5"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03174" y="2869044"/>
            <a:ext cx="85954" cy="4001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39750" y="2218906"/>
            <a:ext cx="7680960" cy="720090"/>
          </a:xfrm>
          <a:prstGeom prst="rect">
            <a:avLst/>
          </a:prstGeom>
          <a:noFill/>
          <a:ln/>
        </p:spPr>
        <p:txBody>
          <a:bodyPr wrap="square" lIns="0" tIns="0" rIns="0" bIns="0" rtlCol="0" anchor="t">
            <a:normAutofit/>
          </a:bodyPr>
          <a:lstStyle/>
          <a:p>
            <a:pPr algn="ctr">
              <a:lnSpc>
                <a:spcPts val="5224"/>
              </a:lnSpc>
            </a:pPr>
            <a:r>
              <a:rPr lang="en-US" sz="4000" b="1" dirty="0">
                <a:solidFill>
                  <a:srgbClr val="FFFFFF"/>
                </a:solidFill>
                <a:latin typeface="Arial" pitchFamily="34" charset="0"/>
                <a:ea typeface="Arial" pitchFamily="34" charset="-122"/>
                <a:cs typeface="Arial" pitchFamily="34" charset="-120"/>
              </a:rPr>
              <a:t>二十世纪90年代：蓬勃发展阶段</a:t>
            </a:r>
            <a:endParaRPr lang="en-US" sz="4019"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03174" y="647052"/>
            <a:ext cx="7315200" cy="1903095"/>
          </a:xfrm>
          <a:prstGeom prst="rect">
            <a:avLst/>
          </a:prstGeom>
          <a:noFill/>
          <a:ln/>
        </p:spPr>
        <p:txBody>
          <a:bodyPr wrap="square" lIns="0" tIns="0" rIns="0" bIns="0" rtlCol="0" anchor="t">
            <a:normAutofit/>
          </a:bodyPr>
          <a:lstStyle/>
          <a:p>
            <a:pPr algn="l">
              <a:lnSpc>
                <a:spcPts val="6929"/>
              </a:lnSpc>
            </a:pPr>
            <a:r>
              <a:rPr lang="en-US" sz="5300" b="1" dirty="0">
                <a:solidFill>
                  <a:srgbClr val="FFFFFF"/>
                </a:solidFill>
                <a:latin typeface="Arial" pitchFamily="34" charset="0"/>
                <a:ea typeface="Arial" pitchFamily="34" charset="-122"/>
                <a:cs typeface="Arial" pitchFamily="34" charset="-120"/>
              </a:rPr>
              <a:t>二十世纪90年代：蓬勃发展阶段</a:t>
            </a:r>
            <a:endParaRPr lang="en-US" sz="5330" dirty="0"/>
          </a:p>
        </p:txBody>
      </p:sp>
      <p:sp>
        <p:nvSpPr>
          <p:cNvPr id="3" name="Object2"/>
          <p:cNvSpPr/>
          <p:nvPr/>
        </p:nvSpPr>
        <p:spPr>
          <a:xfrm>
            <a:off x="703174" y="2953398"/>
            <a:ext cx="7772400" cy="1543050"/>
          </a:xfrm>
          <a:prstGeom prst="rect">
            <a:avLst/>
          </a:prstGeom>
          <a:noFill/>
          <a:ln/>
        </p:spPr>
        <p:txBody>
          <a:bodyPr wrap="square" lIns="0" tIns="0" rIns="0" bIns="0" rtlCol="0" anchor="t">
            <a:normAutofit/>
          </a:bodyPr>
          <a:lstStyle/>
          <a:p>
            <a:pPr algn="l">
              <a:lnSpc>
                <a:spcPts val="2855"/>
              </a:lnSpc>
            </a:pPr>
            <a:r>
              <a:rPr lang="en-US" sz="1900" b="0" dirty="0">
                <a:solidFill>
                  <a:srgbClr val="FFFFFF"/>
                </a:solidFill>
                <a:latin typeface="Arial" pitchFamily="34" charset="0"/>
                <a:ea typeface="Arial" pitchFamily="34" charset="-122"/>
                <a:cs typeface="Arial" pitchFamily="34" charset="-120"/>
              </a:rPr>
              <a:t>【不可缺少的工具和助手】随着地理信息产品的建立和数字化信息产品在全世界的普及，GIS已成为确定性的产业，投入使用的GIS系统， 每2～3年就翻一番，GIS市场的年增长率为35%以上，从事GIS的厂家已超过一千家。</a:t>
            </a:r>
            <a:endParaRPr lang="en-US" sz="1904" dirty="0"/>
          </a:p>
        </p:txBody>
      </p:sp>
      <p:pic>
        <p:nvPicPr>
          <p:cNvPr id="4" name="Object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174" y="2519286"/>
            <a:ext cx="7715707" cy="43411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1591970" y="2070259"/>
            <a:ext cx="6035040" cy="102870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7424"/>
              </a:lnSpc>
              <a:spcBef>
                <a:spcPts val="0"/>
              </a:spcBef>
              <a:spcAft>
                <a:spcPts val="0"/>
              </a:spcAft>
              <a:buClrTx/>
              <a:buSzTx/>
              <a:buFontTx/>
              <a:buNone/>
              <a:tabLst/>
              <a:defRPr/>
            </a:pPr>
            <a:r>
              <a:rPr kumimoji="0" lang="en-US" sz="57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GIS在国内的发展</a:t>
            </a:r>
            <a:endParaRPr kumimoji="0" lang="en-US" sz="5711"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8090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1009498" y="1903095"/>
            <a:ext cx="2103120" cy="133731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4949"/>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GIS在国内的发展</a:t>
            </a:r>
            <a:endParaRPr kumimoji="0" lang="en-US" sz="380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Object2"/>
          <p:cNvSpPr/>
          <p:nvPr/>
        </p:nvSpPr>
        <p:spPr>
          <a:xfrm>
            <a:off x="3744468" y="642938"/>
            <a:ext cx="4206240" cy="10287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731"/>
              </a:lnSpc>
              <a:spcBef>
                <a:spcPts val="0"/>
              </a:spcBef>
              <a:spcAft>
                <a:spcPts val="0"/>
              </a:spcAft>
              <a:buClrTx/>
              <a:buSzTx/>
              <a:buFontTx/>
              <a:buNone/>
              <a:tabLst/>
              <a:defRPr/>
            </a:pPr>
            <a:r>
              <a:rPr kumimoji="0" lang="en-US" sz="27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1970年到1980年：准备阶段</a:t>
            </a:r>
            <a:endParaRPr kumimoji="0" lang="en-US" sz="266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Object3"/>
          <p:cNvSpPr/>
          <p:nvPr/>
        </p:nvSpPr>
        <p:spPr>
          <a:xfrm>
            <a:off x="3744468" y="1985391"/>
            <a:ext cx="4206240" cy="10287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731"/>
              </a:lnSpc>
              <a:spcBef>
                <a:spcPts val="0"/>
              </a:spcBef>
              <a:spcAft>
                <a:spcPts val="0"/>
              </a:spcAft>
              <a:buClrTx/>
              <a:buSzTx/>
              <a:buFontTx/>
              <a:buNone/>
              <a:tabLst/>
              <a:defRPr/>
            </a:pPr>
            <a:r>
              <a:rPr kumimoji="0" lang="en-US" sz="27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1981年到1985年：起步阶段</a:t>
            </a:r>
            <a:endParaRPr kumimoji="0" lang="en-US" sz="266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Object4"/>
          <p:cNvSpPr/>
          <p:nvPr/>
        </p:nvSpPr>
        <p:spPr>
          <a:xfrm>
            <a:off x="3744468" y="3327845"/>
            <a:ext cx="4206240" cy="10287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731"/>
              </a:lnSpc>
              <a:spcBef>
                <a:spcPts val="0"/>
              </a:spcBef>
              <a:spcAft>
                <a:spcPts val="0"/>
              </a:spcAft>
              <a:buClrTx/>
              <a:buSzTx/>
              <a:buFontTx/>
              <a:buNone/>
              <a:tabLst/>
              <a:defRPr/>
            </a:pPr>
            <a:r>
              <a:rPr kumimoji="0" lang="en-US" sz="27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1986年到1995年前后：初步发展阶段</a:t>
            </a:r>
            <a:endParaRPr kumimoji="0" lang="en-US" sz="266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Object5"/>
          <p:cNvSpPr/>
          <p:nvPr/>
        </p:nvSpPr>
        <p:spPr>
          <a:xfrm>
            <a:off x="3744468" y="4670298"/>
            <a:ext cx="4114800" cy="51435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731"/>
              </a:lnSpc>
              <a:spcBef>
                <a:spcPts val="0"/>
              </a:spcBef>
              <a:spcAft>
                <a:spcPts val="0"/>
              </a:spcAft>
              <a:buClrTx/>
              <a:buSzTx/>
              <a:buFontTx/>
              <a:buNone/>
              <a:tabLst/>
              <a:defRPr/>
            </a:pPr>
            <a:r>
              <a:rPr kumimoji="0" lang="en-US" sz="27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第四阶段从1996年至现在</a:t>
            </a:r>
            <a:endParaRPr kumimoji="0" lang="en-US" sz="266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Object 6"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99486" y="642938"/>
            <a:ext cx="544982" cy="1931899"/>
          </a:xfrm>
          <a:prstGeom prst="rect">
            <a:avLst/>
          </a:prstGeom>
        </p:spPr>
      </p:pic>
      <p:pic>
        <p:nvPicPr>
          <p:cNvPr id="8" name="Object 7"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99486" y="2568664"/>
            <a:ext cx="544982" cy="1928813"/>
          </a:xfrm>
          <a:prstGeom prst="rect">
            <a:avLst/>
          </a:prstGeom>
        </p:spPr>
      </p:pic>
    </p:spTree>
    <p:extLst>
      <p:ext uri="{BB962C8B-B14F-4D97-AF65-F5344CB8AC3E}">
        <p14:creationId xmlns:p14="http://schemas.microsoft.com/office/powerpoint/2010/main" val="3180050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28777" y="2170557"/>
            <a:ext cx="7772400" cy="82296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5939"/>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1970年到1980年：准备阶段</a:t>
            </a:r>
            <a:endParaRPr kumimoji="0" lang="en-US" sz="4568"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2152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03174" y="722147"/>
            <a:ext cx="7589520" cy="1903095"/>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6929"/>
              </a:lnSpc>
              <a:spcBef>
                <a:spcPts val="0"/>
              </a:spcBef>
              <a:spcAft>
                <a:spcPts val="0"/>
              </a:spcAft>
              <a:buClrTx/>
              <a:buSzTx/>
              <a:buFontTx/>
              <a:buNone/>
              <a:tabLst/>
              <a:defRPr/>
            </a:pPr>
            <a:r>
              <a:rPr kumimoji="0" lang="en-US" sz="5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1970年到1980年：准备阶段</a:t>
            </a:r>
            <a:endParaRPr kumimoji="0" lang="en-US" sz="53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Object2"/>
          <p:cNvSpPr/>
          <p:nvPr/>
        </p:nvSpPr>
        <p:spPr>
          <a:xfrm>
            <a:off x="703174" y="3029007"/>
            <a:ext cx="7772400" cy="1440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435"/>
              </a:lnSpc>
              <a:spcBef>
                <a:spcPts val="0"/>
              </a:spcBef>
              <a:spcAft>
                <a:spcPts val="0"/>
              </a:spcAft>
              <a:buClrTx/>
              <a:buSzTx/>
              <a:buFontTx/>
              <a:buNone/>
              <a:tabLst/>
              <a:defRPr/>
            </a:pPr>
            <a:r>
              <a:rPr kumimoji="0" lang="en-US" sz="25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进行舆论准备，正式提出倡仪，开始组建队伍，培训人才，组织个别实验研究。 机助制图和遥感应用，为GIS的研制和应用作了技术上和理论上的准备。</a:t>
            </a:r>
            <a:endParaRPr kumimoji="0" lang="en-US" sz="245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Object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174" y="2594381"/>
            <a:ext cx="7721194" cy="434111"/>
          </a:xfrm>
          <a:prstGeom prst="rect">
            <a:avLst/>
          </a:prstGeom>
        </p:spPr>
      </p:pic>
    </p:spTree>
    <p:extLst>
      <p:ext uri="{BB962C8B-B14F-4D97-AF65-F5344CB8AC3E}">
        <p14:creationId xmlns:p14="http://schemas.microsoft.com/office/powerpoint/2010/main" val="3005205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28777" y="2170557"/>
            <a:ext cx="7772400" cy="82296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5939"/>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1981年到1985年：起步阶段</a:t>
            </a:r>
            <a:endParaRPr kumimoji="0" lang="en-US" sz="4568"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4763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03174" y="642938"/>
            <a:ext cx="7132320" cy="771525"/>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5444"/>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1981年到1985年：起步阶段</a:t>
            </a:r>
            <a:endParaRPr kumimoji="0" lang="en-US" sz="4188"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Object2"/>
          <p:cNvSpPr/>
          <p:nvPr/>
        </p:nvSpPr>
        <p:spPr>
          <a:xfrm>
            <a:off x="875081" y="1789938"/>
            <a:ext cx="7589520" cy="7200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538"/>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完成了技术引进，研究数据规范和标准，空间数据库建立，数据处理和分析算法及应用软件的开发等，对GIS进行理论探索和区域性实验研究。</a:t>
            </a:r>
            <a:endParaRPr kumimoji="0" lang="en-US" sz="1692"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Object3"/>
          <p:cNvSpPr/>
          <p:nvPr/>
        </p:nvSpPr>
        <p:spPr>
          <a:xfrm>
            <a:off x="875081" y="2784177"/>
            <a:ext cx="7589520" cy="10287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538"/>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在全国大地测量和数字地面模型建立的基础上，建成了1:100万国土基础信息系统和全国土地信息系统，1:400万全国资源和环境信息系统，1:250万水土保持信息系统。</a:t>
            </a:r>
            <a:endParaRPr kumimoji="0" lang="en-US" sz="1692"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Object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174" y="1789938"/>
            <a:ext cx="68580" cy="343071"/>
          </a:xfrm>
          <a:prstGeom prst="rect">
            <a:avLst/>
          </a:prstGeom>
        </p:spPr>
      </p:pic>
      <p:pic>
        <p:nvPicPr>
          <p:cNvPr id="6" name="Object 5"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03174" y="2784177"/>
            <a:ext cx="68580" cy="343071"/>
          </a:xfrm>
          <a:prstGeom prst="rect">
            <a:avLst/>
          </a:prstGeom>
        </p:spPr>
      </p:pic>
    </p:spTree>
    <p:extLst>
      <p:ext uri="{BB962C8B-B14F-4D97-AF65-F5344CB8AC3E}">
        <p14:creationId xmlns:p14="http://schemas.microsoft.com/office/powerpoint/2010/main" val="196329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16890" y="2243595"/>
            <a:ext cx="7772400" cy="668655"/>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4856"/>
              </a:lnSpc>
              <a:spcBef>
                <a:spcPts val="0"/>
              </a:spcBef>
              <a:spcAft>
                <a:spcPts val="0"/>
              </a:spcAft>
              <a:buClrTx/>
              <a:buSzTx/>
              <a:buFontTx/>
              <a:buNone/>
              <a:tabLst/>
              <a:defRPr/>
            </a:pPr>
            <a:r>
              <a:rPr kumimoji="0" lang="en-US" sz="3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1986年到1995年前后：初步发展阶段</a:t>
            </a:r>
            <a:endParaRPr kumimoji="0" lang="en-US" sz="3469"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7139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03174" y="647052"/>
            <a:ext cx="7589520" cy="1903095"/>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6929"/>
              </a:lnSpc>
              <a:spcBef>
                <a:spcPts val="0"/>
              </a:spcBef>
              <a:spcAft>
                <a:spcPts val="0"/>
              </a:spcAft>
              <a:buClrTx/>
              <a:buSzTx/>
              <a:buFontTx/>
              <a:buNone/>
              <a:tabLst/>
              <a:defRPr/>
            </a:pPr>
            <a:r>
              <a:rPr kumimoji="0" lang="en-US" sz="53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1986年到1995年前后：初步发展阶段</a:t>
            </a:r>
            <a:endParaRPr kumimoji="0" lang="en-US" sz="533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Object2"/>
          <p:cNvSpPr/>
          <p:nvPr/>
        </p:nvSpPr>
        <p:spPr>
          <a:xfrm>
            <a:off x="703174" y="2953398"/>
            <a:ext cx="7772400" cy="154305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855"/>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我国GIS的研究和应用进入有组织、有计划、有目标的阶段，逐步建立了不同层次、不同规模的组织机构、研究中心和实验室，中国科学院于1985年开始筹建国家资源与环境系统实验室，是一个新型的开放性研究实验室，1994年中国GIS协会在北京成立。</a:t>
            </a:r>
            <a:endParaRPr kumimoji="0" lang="en-US" sz="1904"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Object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174" y="2519286"/>
            <a:ext cx="7715707" cy="434111"/>
          </a:xfrm>
          <a:prstGeom prst="rect">
            <a:avLst/>
          </a:prstGeom>
        </p:spPr>
      </p:pic>
    </p:spTree>
    <p:extLst>
      <p:ext uri="{BB962C8B-B14F-4D97-AF65-F5344CB8AC3E}">
        <p14:creationId xmlns:p14="http://schemas.microsoft.com/office/powerpoint/2010/main" val="4286394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23290" y="2125809"/>
            <a:ext cx="7772400" cy="925830"/>
          </a:xfrm>
          <a:prstGeom prst="rect">
            <a:avLst/>
          </a:prstGeom>
          <a:noFill/>
          <a:ln/>
        </p:spPr>
        <p:txBody>
          <a:bodyPr wrap="square" lIns="0" tIns="0" rIns="0" bIns="0" rtlCol="0" anchor="t">
            <a:normAutofit/>
          </a:bodyPr>
          <a:lstStyle/>
          <a:p>
            <a:pPr marL="0" marR="0" lvl="0" indent="0" algn="ctr" defTabSz="914400" rtl="0" eaLnBrk="1" fontAlgn="auto" latinLnBrk="0" hangingPunct="1">
              <a:lnSpc>
                <a:spcPts val="6599"/>
              </a:lnSpc>
              <a:spcBef>
                <a:spcPts val="0"/>
              </a:spcBef>
              <a:spcAft>
                <a:spcPts val="0"/>
              </a:spcAft>
              <a:buClrTx/>
              <a:buSzTx/>
              <a:buFontTx/>
              <a:buNone/>
              <a:tabLst/>
              <a:defRPr/>
            </a:pPr>
            <a:r>
              <a:rPr kumimoji="0" lang="en-US" sz="51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第四阶段从1996年至现在</a:t>
            </a:r>
            <a:endParaRPr kumimoji="0" lang="en-US" sz="5076"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9502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03174" y="642938"/>
            <a:ext cx="6400800" cy="771525"/>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5444"/>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第四阶段从1996年至现在</a:t>
            </a:r>
            <a:endParaRPr kumimoji="0" lang="en-US" sz="4188"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Object2"/>
          <p:cNvSpPr/>
          <p:nvPr/>
        </p:nvSpPr>
        <p:spPr>
          <a:xfrm>
            <a:off x="891540" y="1789938"/>
            <a:ext cx="7406640" cy="8229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961"/>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我国GIS技术在技术研究、成果应用、人才培养、软件开发等方面进展迅速， 并力图将GIS从初步发展时期的研究实...</a:t>
            </a:r>
            <a:endParaRPr kumimoji="0" lang="en-US" sz="211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Object3"/>
          <p:cNvSpPr/>
          <p:nvPr/>
        </p:nvSpPr>
        <p:spPr>
          <a:xfrm>
            <a:off x="891540" y="2898877"/>
            <a:ext cx="7498080" cy="8229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961"/>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从应用方面看，地理信息系统已在资源开发、环境保护、城市规划建设、土地管理、交通，能源、通讯、地图测绘、...</a:t>
            </a:r>
            <a:endParaRPr kumimoji="0" lang="en-US" sz="211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Object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174" y="1789938"/>
            <a:ext cx="85954" cy="400164"/>
          </a:xfrm>
          <a:prstGeom prst="rect">
            <a:avLst/>
          </a:prstGeom>
        </p:spPr>
      </p:pic>
      <p:pic>
        <p:nvPicPr>
          <p:cNvPr id="6" name="Object 5"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03174" y="2898877"/>
            <a:ext cx="85954" cy="400164"/>
          </a:xfrm>
          <a:prstGeom prst="rect">
            <a:avLst/>
          </a:prstGeom>
        </p:spPr>
      </p:pic>
    </p:spTree>
    <p:extLst>
      <p:ext uri="{BB962C8B-B14F-4D97-AF65-F5344CB8AC3E}">
        <p14:creationId xmlns:p14="http://schemas.microsoft.com/office/powerpoint/2010/main" val="4120856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28777" y="1291533"/>
            <a:ext cx="7772400" cy="257175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79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我国GIS技术在技术研究、成果应用、人才培养、软件开发等方面进展迅速， 并力图将GIS从初步发展时期的研究实验、局部应用推向实用化、集成化、工程化，为国民经济发展提供辅助分析和决策依据。</a:t>
            </a:r>
            <a:endParaRPr kumimoji="0" lang="en-US" sz="270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Object2"/>
          <p:cNvSpPr/>
          <p:nvPr/>
        </p:nvSpPr>
        <p:spPr>
          <a:xfrm>
            <a:off x="256946" y="205740"/>
            <a:ext cx="1554480" cy="154305"/>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03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第四阶段从1996年至现在</a:t>
            </a:r>
            <a:endParaRPr kumimoji="0" lang="en-US" sz="97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Object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946" y="388849"/>
            <a:ext cx="256946" cy="22631"/>
          </a:xfrm>
          <a:prstGeom prst="rect">
            <a:avLst/>
          </a:prstGeom>
        </p:spPr>
      </p:pic>
    </p:spTree>
    <p:extLst>
      <p:ext uri="{BB962C8B-B14F-4D97-AF65-F5344CB8AC3E}">
        <p14:creationId xmlns:p14="http://schemas.microsoft.com/office/powerpoint/2010/main" val="40005859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43407" y="1511675"/>
            <a:ext cx="7680960" cy="216027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139"/>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从应用方面看，地理信息系统已在资源开发、环境保护、城市规划建设、土地管理、交通，能源、通讯、地图测绘、林业、房地产开发、 自然灾害的监测与评估、金融、保险、石油与天然气、军事、犯罪分析、运输与导航、110报警系统、公共汽车调度等方面都得到了具体应用。</a:t>
            </a:r>
            <a:endParaRPr kumimoji="0" lang="en-US" sz="2242"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Object2"/>
          <p:cNvSpPr/>
          <p:nvPr/>
        </p:nvSpPr>
        <p:spPr>
          <a:xfrm>
            <a:off x="256946" y="205740"/>
            <a:ext cx="1554480" cy="154305"/>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035"/>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第四阶段从1996年至现在</a:t>
            </a:r>
            <a:endParaRPr kumimoji="0" lang="en-US" sz="97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Object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946" y="388849"/>
            <a:ext cx="256946" cy="22631"/>
          </a:xfrm>
          <a:prstGeom prst="rect">
            <a:avLst/>
          </a:prstGeom>
        </p:spPr>
      </p:pic>
    </p:spTree>
    <p:extLst>
      <p:ext uri="{BB962C8B-B14F-4D97-AF65-F5344CB8AC3E}">
        <p14:creationId xmlns:p14="http://schemas.microsoft.com/office/powerpoint/2010/main" val="11884291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bject1"/>
          <p:cNvSpPr/>
          <p:nvPr/>
        </p:nvSpPr>
        <p:spPr>
          <a:xfrm>
            <a:off x="703174" y="642938"/>
            <a:ext cx="6400800" cy="771525"/>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5444"/>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第四阶段从1996年至现在</a:t>
            </a:r>
            <a:endParaRPr kumimoji="0" lang="en-US" sz="4188"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Object2"/>
          <p:cNvSpPr/>
          <p:nvPr/>
        </p:nvSpPr>
        <p:spPr>
          <a:xfrm>
            <a:off x="891540" y="1789938"/>
            <a:ext cx="7406640" cy="8229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961"/>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我国GIS技术在技术研究、成果应用、人才培养、软件开发等方面进展迅速， 并力图将GIS从初步发展时期的研究实...</a:t>
            </a:r>
            <a:endParaRPr kumimoji="0" lang="en-US" sz="211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Object3"/>
          <p:cNvSpPr/>
          <p:nvPr/>
        </p:nvSpPr>
        <p:spPr>
          <a:xfrm>
            <a:off x="891540" y="2898877"/>
            <a:ext cx="7498080" cy="8229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961"/>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从应用方面看，地理信息系统已在资源开发、环境保护、城市规划建设、土地管理、交通，能源、通讯、地图测绘、...</a:t>
            </a:r>
            <a:endParaRPr kumimoji="0" lang="en-US" sz="211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Object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174" y="1789938"/>
            <a:ext cx="85954" cy="400164"/>
          </a:xfrm>
          <a:prstGeom prst="rect">
            <a:avLst/>
          </a:prstGeom>
        </p:spPr>
      </p:pic>
      <p:pic>
        <p:nvPicPr>
          <p:cNvPr id="6" name="Object 5" descr="preencoded.png"/>
          <p:cNvPicPr>
            <a:picLocks noChangeAspect="1"/>
          </p:cNvPicPr>
          <p:nvPr/>
        </p:nvPicPr>
        <p:blipFill>
          <a:blip r:embed="rId3">
            <a:extLst>
              <a:ext uri="{96DAC541-7B7A-43D3-8B79-37D633B846F1}">
                <asvg:svgBlip xmlns:asvg="http://schemas.microsoft.com/office/drawing/2016/SVG/main" r:embed="rId5"/>
              </a:ext>
            </a:extLst>
          </a:blip>
          <a:stretch>
            <a:fillRect/>
          </a:stretch>
        </p:blipFill>
        <p:spPr>
          <a:xfrm>
            <a:off x="703174" y="2898877"/>
            <a:ext cx="85954" cy="400164"/>
          </a:xfrm>
          <a:prstGeom prst="rect">
            <a:avLst/>
          </a:prstGeom>
        </p:spPr>
      </p:pic>
    </p:spTree>
    <p:extLst>
      <p:ext uri="{BB962C8B-B14F-4D97-AF65-F5344CB8AC3E}">
        <p14:creationId xmlns:p14="http://schemas.microsoft.com/office/powerpoint/2010/main" val="762817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818</Words>
  <Application>Microsoft Office PowerPoint</Application>
  <PresentationFormat>全屏显示(16:9)</PresentationFormat>
  <Paragraphs>100</Paragraphs>
  <Slides>31</Slides>
  <Notes>31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31</vt:i4>
      </vt:variant>
    </vt:vector>
  </HeadingPairs>
  <TitlesOfParts>
    <vt:vector size="35" baseType="lpstr">
      <vt:lpstr>等线</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张 源舫</cp:lastModifiedBy>
  <cp:revision>2</cp:revision>
  <dcterms:created xsi:type="dcterms:W3CDTF">2023-02-28T02:34:20Z</dcterms:created>
  <dcterms:modified xsi:type="dcterms:W3CDTF">2023-02-28T02:49:17Z</dcterms:modified>
</cp:coreProperties>
</file>